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70" r:id="rId12"/>
    <p:sldId id="27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B59C3"/>
                </a:solidFill>
                <a:latin typeface="맑은 고딕"/>
              </a:rPr>
              <a:t>Ai-living-care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A1A1A"/>
                </a:solidFill>
                <a:latin typeface="맑은 고딕"/>
              </a:rPr>
              <a:t>검색증강 In-Context Learning으로
RAG 설계하기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300" b="0" i="0" dirty="0" err="1">
                <a:solidFill>
                  <a:srgbClr val="AFAFAF"/>
                </a:solidFill>
                <a:latin typeface="맑은 고딕"/>
              </a:rPr>
              <a:t>참고</a:t>
            </a:r>
            <a:r>
              <a:rPr sz="1300" b="0" i="0" dirty="0">
                <a:solidFill>
                  <a:srgbClr val="AFAFAF"/>
                </a:solidFill>
                <a:latin typeface="맑은 고딕"/>
              </a:rPr>
              <a:t> </a:t>
            </a:r>
            <a:r>
              <a:rPr sz="1300" b="0" i="0" dirty="0" err="1">
                <a:solidFill>
                  <a:srgbClr val="AFAFAF"/>
                </a:solidFill>
                <a:latin typeface="맑은 고딕"/>
              </a:rPr>
              <a:t>논문</a:t>
            </a:r>
            <a:r>
              <a:rPr sz="1300" b="0" i="0" dirty="0">
                <a:solidFill>
                  <a:srgbClr val="AFAFAF"/>
                </a:solidFill>
                <a:latin typeface="맑은 고딕"/>
              </a:rPr>
              <a:t>: What Makes Good In-Context Examples for GPT-3? (Liu et al., 2021)  ·  In-Context Retrieval-Augmented Language Models (Ram et al., 2023)  ·  REPLUG: Retrieval-Augmented Black-Box Language Models (Shi et al., 2023)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286000"/>
            <a:ext cx="1554480" cy="0"/>
          </a:xfrm>
          <a:prstGeom prst="line">
            <a:avLst/>
          </a:prstGeom>
          <a:ln w="38100">
            <a:solidFill>
              <a:srgbClr val="2B5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868" y="135681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59C3"/>
                </a:solidFill>
                <a:latin typeface="맑은 고딕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076" y="858353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 dirty="0">
                <a:solidFill>
                  <a:srgbClr val="1A1A1A"/>
                </a:solidFill>
                <a:latin typeface="맑은 고딕"/>
              </a:rPr>
              <a:t>왜 </a:t>
            </a:r>
            <a:r>
              <a:rPr sz="4000" b="1" i="0" dirty="0" err="1">
                <a:solidFill>
                  <a:srgbClr val="1A1A1A"/>
                </a:solidFill>
                <a:latin typeface="맑은 고딕"/>
              </a:rPr>
              <a:t>검색증강</a:t>
            </a:r>
            <a:r>
              <a:rPr sz="4000" b="1" i="0" dirty="0">
                <a:solidFill>
                  <a:srgbClr val="1A1A1A"/>
                </a:solidFill>
                <a:latin typeface="맑은 고딕"/>
              </a:rPr>
              <a:t> In-Context </a:t>
            </a:r>
            <a:r>
              <a:rPr sz="4000" b="1" i="0" dirty="0" err="1">
                <a:solidFill>
                  <a:srgbClr val="1A1A1A"/>
                </a:solidFill>
                <a:latin typeface="맑은 고딕"/>
              </a:rPr>
              <a:t>Learning인가</a:t>
            </a:r>
            <a:endParaRPr sz="4000" b="1" i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656" y="1852664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>
                <a:solidFill>
                  <a:srgbClr val="6B6B6B"/>
                </a:solidFill>
                <a:latin typeface="맑은 고딕"/>
              </a:rPr>
              <a:t>Domain-specific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상황에서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검색을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LLM에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융합해야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하는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이유</a:t>
            </a:r>
            <a:endParaRPr lang="en-US" sz="1800" b="0" i="0" dirty="0">
              <a:solidFill>
                <a:srgbClr val="6B6B6B"/>
              </a:solidFill>
              <a:latin typeface="맑은 고딕"/>
            </a:endParaRPr>
          </a:p>
          <a:p>
            <a:endParaRPr lang="en-US" dirty="0">
              <a:solidFill>
                <a:srgbClr val="6B6B6B"/>
              </a:solidFill>
              <a:latin typeface="맑은 고딕"/>
            </a:endParaRPr>
          </a:p>
          <a:p>
            <a:endParaRPr lang="en-US" sz="1800" b="0" i="0" dirty="0">
              <a:solidFill>
                <a:srgbClr val="6B6B6B"/>
              </a:solidFill>
              <a:latin typeface="맑은 고딕"/>
            </a:endParaRPr>
          </a:p>
          <a:p>
            <a:pPr marL="342900" indent="-342900">
              <a:buAutoNum type="arabicPeriod"/>
            </a:pPr>
            <a:r>
              <a:rPr lang="ko-KR" altLang="en-US" sz="1800" b="0" i="0" dirty="0">
                <a:solidFill>
                  <a:srgbClr val="6B6B6B"/>
                </a:solidFill>
                <a:latin typeface="맑은 고딕"/>
              </a:rPr>
              <a:t>같은 의도도 </a:t>
            </a:r>
            <a:r>
              <a:rPr lang="en-US" sz="1800" b="0" i="0" dirty="0">
                <a:solidFill>
                  <a:srgbClr val="6B6B6B"/>
                </a:solidFill>
                <a:latin typeface="맑은 고딕"/>
              </a:rPr>
              <a:t>Context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에 따라 달라짐</a:t>
            </a:r>
            <a:endParaRPr lang="en-US" altLang="ko-KR" dirty="0">
              <a:solidFill>
                <a:srgbClr val="6B6B6B"/>
              </a:solidFill>
              <a:latin typeface="맑은 고딕"/>
            </a:endParaRPr>
          </a:p>
          <a:p>
            <a:r>
              <a:rPr lang="en-US" altLang="ko-KR" dirty="0">
                <a:solidFill>
                  <a:srgbClr val="6B6B6B"/>
                </a:solidFill>
                <a:latin typeface="맑은 고딕"/>
              </a:rPr>
              <a:t>e.g. 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할머니 </a:t>
            </a:r>
            <a:r>
              <a:rPr lang="ko-KR" altLang="en-US" dirty="0" err="1">
                <a:solidFill>
                  <a:srgbClr val="6B6B6B"/>
                </a:solidFill>
                <a:latin typeface="맑은 고딕"/>
              </a:rPr>
              <a:t>괜찮은지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 확인해줘 </a:t>
            </a:r>
            <a:r>
              <a:rPr lang="en-US" altLang="ko-KR" dirty="0">
                <a:solidFill>
                  <a:srgbClr val="6B6B6B"/>
                </a:solidFill>
                <a:latin typeface="맑은 고딕"/>
              </a:rPr>
              <a:t>-&gt; </a:t>
            </a:r>
          </a:p>
          <a:p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로봇이 할머니를 보고 </a:t>
            </a:r>
            <a:r>
              <a:rPr lang="ko-KR" altLang="en-US" dirty="0" err="1">
                <a:solidFill>
                  <a:srgbClr val="6B6B6B"/>
                </a:solidFill>
                <a:latin typeface="맑은 고딕"/>
              </a:rPr>
              <a:t>있을경우</a:t>
            </a:r>
            <a:r>
              <a:rPr lang="en-US" altLang="ko-KR" dirty="0">
                <a:solidFill>
                  <a:srgbClr val="6B6B6B"/>
                </a:solidFill>
                <a:latin typeface="맑은 고딕"/>
              </a:rPr>
              <a:t> / 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로봇이 할머니를 보고 </a:t>
            </a:r>
            <a:r>
              <a:rPr lang="ko-KR" altLang="en-US" dirty="0" err="1">
                <a:solidFill>
                  <a:srgbClr val="6B6B6B"/>
                </a:solidFill>
                <a:latin typeface="맑은 고딕"/>
              </a:rPr>
              <a:t>있지않은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 경우</a:t>
            </a:r>
            <a:endParaRPr lang="en-US" altLang="ko-KR" dirty="0">
              <a:solidFill>
                <a:srgbClr val="6B6B6B"/>
              </a:solidFill>
              <a:latin typeface="맑은 고딕"/>
            </a:endParaRPr>
          </a:p>
          <a:p>
            <a:endParaRPr lang="en-US" altLang="ko-KR" sz="1800" b="0" i="0" dirty="0">
              <a:solidFill>
                <a:srgbClr val="6B6B6B"/>
              </a:solidFill>
              <a:latin typeface="맑은 고딕"/>
            </a:endParaRPr>
          </a:p>
          <a:p>
            <a:r>
              <a:rPr lang="en-US" altLang="ko-KR" sz="1800" b="0" i="0" dirty="0">
                <a:solidFill>
                  <a:srgbClr val="6B6B6B"/>
                </a:solidFill>
                <a:latin typeface="맑은 고딕"/>
              </a:rPr>
              <a:t>2. Life care 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분야 이기에 </a:t>
            </a:r>
            <a:r>
              <a:rPr lang="ko-KR" altLang="en-US" sz="1800" b="0" i="0" dirty="0">
                <a:solidFill>
                  <a:srgbClr val="6B6B6B"/>
                </a:solidFill>
                <a:latin typeface="맑은 고딕"/>
              </a:rPr>
              <a:t>정확성 중요</a:t>
            </a:r>
            <a:endParaRPr lang="en-US" altLang="ko-KR" sz="1800" b="0" i="0" dirty="0">
              <a:solidFill>
                <a:srgbClr val="6B6B6B"/>
              </a:solidFill>
              <a:latin typeface="맑은 고딕"/>
            </a:endParaRPr>
          </a:p>
          <a:p>
            <a:endParaRPr lang="en-US" altLang="ko-KR" dirty="0">
              <a:solidFill>
                <a:srgbClr val="6B6B6B"/>
              </a:solidFill>
              <a:latin typeface="맑은 고딕"/>
            </a:endParaRPr>
          </a:p>
          <a:p>
            <a:r>
              <a:rPr lang="en-US" altLang="ko-KR" sz="1800" b="0" i="0" dirty="0">
                <a:solidFill>
                  <a:srgbClr val="6B6B6B"/>
                </a:solidFill>
                <a:latin typeface="맑은 고딕"/>
              </a:rPr>
              <a:t>3. </a:t>
            </a:r>
            <a:r>
              <a:rPr lang="ko-KR" altLang="en-US" sz="1800" b="0" i="0" dirty="0">
                <a:solidFill>
                  <a:srgbClr val="6B6B6B"/>
                </a:solidFill>
                <a:latin typeface="맑은 고딕"/>
              </a:rPr>
              <a:t>우리의 </a:t>
            </a:r>
            <a:r>
              <a:rPr lang="en-US" altLang="ko-KR" sz="1800" b="0" i="0" dirty="0">
                <a:solidFill>
                  <a:srgbClr val="6B6B6B"/>
                </a:solidFill>
                <a:latin typeface="맑은 고딕"/>
              </a:rPr>
              <a:t>DSL</a:t>
            </a:r>
            <a:r>
              <a:rPr lang="ko-KR" altLang="en-US" sz="1800" b="0" i="0" dirty="0">
                <a:solidFill>
                  <a:srgbClr val="6B6B6B"/>
                </a:solidFill>
                <a:latin typeface="맑은 고딕"/>
              </a:rPr>
              <a:t>은 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단순 </a:t>
            </a:r>
            <a:r>
              <a:rPr lang="en-US" altLang="ko-KR" sz="1800" b="0" i="0" dirty="0">
                <a:solidFill>
                  <a:srgbClr val="6B6B6B"/>
                </a:solidFill>
                <a:latin typeface="맑은 고딕"/>
              </a:rPr>
              <a:t>LLM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으로</a:t>
            </a:r>
            <a:r>
              <a:rPr lang="ko-KR" altLang="en-US" sz="1800" b="0" i="0" dirty="0">
                <a:solidFill>
                  <a:srgbClr val="6B6B6B"/>
                </a:solidFill>
                <a:latin typeface="맑은 고딕"/>
              </a:rPr>
              <a:t> 처리했을 경우 부정확 함</a:t>
            </a:r>
            <a:endParaRPr lang="en-US" altLang="ko-KR" sz="1800" b="0" i="0" dirty="0">
              <a:solidFill>
                <a:srgbClr val="6B6B6B"/>
              </a:solidFill>
              <a:latin typeface="맑은 고딕"/>
            </a:endParaRPr>
          </a:p>
          <a:p>
            <a:r>
              <a:rPr lang="en-US" altLang="ko-KR" sz="1800" b="0" i="0" dirty="0">
                <a:solidFill>
                  <a:srgbClr val="6B6B6B"/>
                </a:solidFill>
                <a:latin typeface="맑은 고딕"/>
              </a:rPr>
              <a:t>e.g.</a:t>
            </a:r>
            <a:r>
              <a:rPr lang="ko-KR" altLang="en-US" sz="1800" b="0" i="0" dirty="0">
                <a:solidFill>
                  <a:srgbClr val="6B6B6B"/>
                </a:solidFill>
                <a:latin typeface="맑은 고딕"/>
              </a:rPr>
              <a:t>  </a:t>
            </a:r>
            <a:r>
              <a:rPr lang="en-US" altLang="ko-KR" sz="1800" b="0" i="0" dirty="0">
                <a:solidFill>
                  <a:srgbClr val="6B6B6B"/>
                </a:solidFill>
                <a:latin typeface="맑은 고딕"/>
              </a:rPr>
              <a:t>using few-sho</a:t>
            </a:r>
            <a:r>
              <a:rPr lang="en-US" altLang="ko-KR" dirty="0">
                <a:solidFill>
                  <a:srgbClr val="6B6B6B"/>
                </a:solidFill>
                <a:latin typeface="맑은 고딕"/>
              </a:rPr>
              <a:t>t prompting</a:t>
            </a:r>
          </a:p>
          <a:p>
            <a:r>
              <a:rPr lang="en-US" altLang="ko-KR" sz="1800" b="0" i="0" dirty="0">
                <a:solidFill>
                  <a:srgbClr val="6B6B6B"/>
                </a:solidFill>
                <a:latin typeface="맑은 고딕"/>
              </a:rPr>
              <a:t>Move forward -&gt; intent: stop</a:t>
            </a:r>
          </a:p>
          <a:p>
            <a:endParaRPr lang="en-US" sz="1800" b="0" i="0" dirty="0">
              <a:solidFill>
                <a:srgbClr val="6B6B6B"/>
              </a:solidFill>
              <a:latin typeface="맑은 고딕"/>
            </a:endParaRPr>
          </a:p>
          <a:p>
            <a:r>
              <a:rPr lang="en-US" dirty="0">
                <a:solidFill>
                  <a:srgbClr val="6B6B6B"/>
                </a:solidFill>
                <a:latin typeface="맑은 고딕"/>
              </a:rPr>
              <a:t>4. Worker 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마다 도메인이 다르고 기능이 다름</a:t>
            </a:r>
            <a:endParaRPr lang="en-US" altLang="ko-KR" dirty="0">
              <a:solidFill>
                <a:srgbClr val="6B6B6B"/>
              </a:solidFill>
              <a:latin typeface="맑은 고딕"/>
            </a:endParaRPr>
          </a:p>
          <a:p>
            <a:endParaRPr lang="en-US" dirty="0">
              <a:solidFill>
                <a:srgbClr val="6B6B6B"/>
              </a:solidFill>
              <a:latin typeface="맑은 고딕"/>
            </a:endParaRPr>
          </a:p>
          <a:p>
            <a:endParaRPr lang="en-US" sz="1800" b="0" i="0" dirty="0">
              <a:solidFill>
                <a:srgbClr val="6B6B6B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3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20DD3B-13DE-5E99-5A33-104A870EA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067" y="1951703"/>
            <a:ext cx="3510854" cy="45228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rgbClr val="1A1A1A"/>
                </a:solidFill>
                <a:latin typeface="맑은 고딕"/>
              </a:rPr>
              <a:t>Few-shot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예시를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무엇으로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채우느냐가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성능을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좌우한다</a:t>
            </a:r>
            <a:endParaRPr sz="3000" b="1" i="0" dirty="0">
              <a:solidFill>
                <a:srgbClr val="1A1A1A"/>
              </a:solidFill>
              <a:latin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698480" cy="85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800" b="0" i="0" dirty="0">
                <a:solidFill>
                  <a:srgbClr val="1A1A1A"/>
                </a:solidFill>
                <a:latin typeface="맑은 고딕"/>
              </a:rPr>
              <a:t>•  GPT-3의 in-context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learning은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프롬프트에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넣는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예시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(demonstration)에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극도로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민감</a:t>
            </a:r>
            <a:endParaRPr lang="en-US" dirty="0">
              <a:solidFill>
                <a:srgbClr val="1A1A1A"/>
              </a:solidFill>
              <a:latin typeface="맑은 고딕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800" b="1" i="0" dirty="0">
                <a:solidFill>
                  <a:srgbClr val="2B59C3"/>
                </a:solidFill>
                <a:latin typeface="맑은 고딕"/>
              </a:rPr>
              <a:t>•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테스트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입력과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의미적으로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가까운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예시를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검색해서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채</a:t>
            </a:r>
            <a:r>
              <a:rPr lang="ko-KR" altLang="en-US" sz="1800" b="1" i="0" dirty="0">
                <a:solidFill>
                  <a:srgbClr val="2B59C3"/>
                </a:solidFill>
                <a:latin typeface="맑은 고딕"/>
              </a:rPr>
              <a:t>움</a:t>
            </a:r>
            <a:endParaRPr sz="1800" b="1" i="0" dirty="0">
              <a:solidFill>
                <a:srgbClr val="2B59C3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4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E6FE6C-7F1A-0C9F-A130-3E495FA00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3" y="3032594"/>
            <a:ext cx="4496427" cy="228631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05F31D4-11A4-DF96-7F66-BCCBD17A9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601" y="2612570"/>
            <a:ext cx="7023267" cy="3453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10881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검색증강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lang="ko-KR" altLang="en-US" sz="3000" b="1" i="0" dirty="0">
                <a:solidFill>
                  <a:srgbClr val="1A1A1A"/>
                </a:solidFill>
                <a:latin typeface="맑은 고딕"/>
              </a:rPr>
              <a:t>결과</a:t>
            </a:r>
            <a:endParaRPr sz="3000" b="1" i="0" dirty="0">
              <a:solidFill>
                <a:srgbClr val="1A1A1A"/>
              </a:solidFill>
              <a:latin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08760"/>
            <a:ext cx="10698480" cy="71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 i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방법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: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테스트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입력을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문장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인코더</a:t>
            </a:r>
            <a:r>
              <a:rPr lang="en-US" sz="1700" dirty="0">
                <a:solidFill>
                  <a:srgbClr val="1A1A1A"/>
                </a:solidFill>
                <a:latin typeface="맑은 고딕"/>
              </a:rPr>
              <a:t>(</a:t>
            </a:r>
            <a:r>
              <a:rPr lang="en-US" sz="1700" dirty="0" err="1">
                <a:solidFill>
                  <a:srgbClr val="1A1A1A"/>
                </a:solidFill>
                <a:latin typeface="맑은 고딕"/>
              </a:rPr>
              <a:t>RoBERT</a:t>
            </a:r>
            <a:r>
              <a:rPr lang="en-US" sz="1700" dirty="0">
                <a:solidFill>
                  <a:srgbClr val="1A1A1A"/>
                </a:solidFill>
                <a:latin typeface="맑은 고딕"/>
              </a:rPr>
              <a:t>)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로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임베딩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→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학습셋에서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코사인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유사도가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가장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높은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k개를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in-context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예시로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사용</a:t>
            </a:r>
            <a:endParaRPr sz="1700" b="0" i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5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180C0E6-D861-EBF8-7F2F-00B090BFB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39" y="3125897"/>
            <a:ext cx="3915321" cy="22672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469B901-2B32-4B92-2060-E8F6A0A51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415" y="2775753"/>
            <a:ext cx="3724795" cy="2838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10881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우리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시스템은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예시의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"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높은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유사도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"</a:t>
            </a:r>
            <a:r>
              <a:rPr lang="ko-KR" altLang="en-US" sz="3000" b="1" dirty="0">
                <a:solidFill>
                  <a:srgbClr val="1A1A1A"/>
                </a:solidFill>
                <a:latin typeface="맑은 고딕"/>
              </a:rPr>
              <a:t>를 요구</a:t>
            </a:r>
            <a:endParaRPr sz="3000" b="1" i="0" dirty="0">
              <a:solidFill>
                <a:srgbClr val="1A1A1A"/>
              </a:solidFill>
              <a:latin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698480" cy="154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800" b="0" i="0" dirty="0">
                <a:solidFill>
                  <a:srgbClr val="1A1A1A"/>
                </a:solidFill>
                <a:latin typeface="맑은 고딕"/>
              </a:rPr>
              <a:t>•  Ai-living-care Worker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Agent는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자연어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명령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("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할머니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좀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확인해줘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")을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엔티티·장소·스킬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바인딩으로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해석해야</a:t>
            </a:r>
            <a:r>
              <a:rPr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A1A1A"/>
                </a:solidFill>
                <a:latin typeface="맑은 고딕"/>
              </a:rPr>
              <a:t>한다</a:t>
            </a:r>
            <a:endParaRPr lang="en-US" dirty="0">
              <a:solidFill>
                <a:srgbClr val="1A1A1A"/>
              </a:solidFill>
              <a:latin typeface="맑은 고딕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800" b="1" i="0" dirty="0">
                <a:solidFill>
                  <a:srgbClr val="2B59C3"/>
                </a:solidFill>
                <a:latin typeface="맑은 고딕"/>
              </a:rPr>
              <a:t>• 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명령어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표현은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다양하지만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의도는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제한적이다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→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임의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예시가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아니라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의미적으로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가장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가까운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과거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사례를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예시로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주는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것이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정확도에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직결된다</a:t>
            </a:r>
            <a:endParaRPr sz="1800" b="1" i="0" dirty="0">
              <a:solidFill>
                <a:srgbClr val="2B59C3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178407-30F1-4EA5-6712-C91CC21BE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74" y="4038047"/>
            <a:ext cx="7471386" cy="24541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682" y="18484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59C3"/>
                </a:solidFill>
                <a:latin typeface="맑은 고딕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8870" y="946843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 dirty="0" err="1">
                <a:solidFill>
                  <a:srgbClr val="1A1A1A"/>
                </a:solidFill>
                <a:latin typeface="맑은 고딕"/>
              </a:rPr>
              <a:t>선행</a:t>
            </a:r>
            <a:r>
              <a:rPr sz="4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4000" b="1" i="0" dirty="0" err="1">
                <a:solidFill>
                  <a:srgbClr val="1A1A1A"/>
                </a:solidFill>
                <a:latin typeface="맑은 고딕"/>
              </a:rPr>
              <a:t>연구는</a:t>
            </a:r>
            <a:r>
              <a:rPr sz="4000" b="1" i="0" dirty="0">
                <a:solidFill>
                  <a:srgbClr val="1A1A1A"/>
                </a:solidFill>
                <a:latin typeface="맑은 고딕"/>
              </a:rPr>
              <a:t> In-Context </a:t>
            </a:r>
            <a:r>
              <a:rPr sz="4000" b="1" i="0" dirty="0" err="1">
                <a:solidFill>
                  <a:srgbClr val="1A1A1A"/>
                </a:solidFill>
                <a:latin typeface="맑은 고딕"/>
              </a:rPr>
              <a:t>RAG를</a:t>
            </a:r>
            <a:r>
              <a:rPr sz="4000" b="1" i="0" dirty="0">
                <a:solidFill>
                  <a:srgbClr val="1A1A1A"/>
                </a:solidFill>
                <a:latin typeface="맑은 고딕"/>
              </a:rPr>
              <a:t>
</a:t>
            </a:r>
            <a:r>
              <a:rPr sz="4000" b="1" i="0" dirty="0" err="1">
                <a:solidFill>
                  <a:srgbClr val="1A1A1A"/>
                </a:solidFill>
                <a:latin typeface="맑은 고딕"/>
              </a:rPr>
              <a:t>어떻게</a:t>
            </a:r>
            <a:r>
              <a:rPr sz="4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4000" b="1" i="0" dirty="0" err="1">
                <a:solidFill>
                  <a:srgbClr val="1A1A1A"/>
                </a:solidFill>
                <a:latin typeface="맑은 고딕"/>
              </a:rPr>
              <a:t>구현했는가</a:t>
            </a:r>
            <a:endParaRPr sz="4000" b="1" i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325" y="2456586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dirty="0">
                <a:solidFill>
                  <a:srgbClr val="6B6B6B"/>
                </a:solidFill>
                <a:latin typeface="맑은 고딕"/>
              </a:rPr>
              <a:t>In-Context Retrieval-Augmented Language Models (Ram et al., 2023)</a:t>
            </a:r>
            <a:endParaRPr lang="en-US" sz="1800" b="0" i="0" dirty="0">
              <a:solidFill>
                <a:srgbClr val="6B6B6B"/>
              </a:solidFill>
              <a:latin typeface="맑은 고딕"/>
            </a:endParaRPr>
          </a:p>
          <a:p>
            <a:endParaRPr lang="en-US" dirty="0">
              <a:solidFill>
                <a:srgbClr val="6B6B6B"/>
              </a:solidFill>
              <a:latin typeface="맑은 고딕"/>
            </a:endParaRPr>
          </a:p>
          <a:p>
            <a:endParaRPr lang="en-US" sz="1800" b="0" i="0" dirty="0">
              <a:solidFill>
                <a:srgbClr val="6B6B6B"/>
              </a:solidFill>
              <a:latin typeface="맑은 고딕"/>
            </a:endParaRPr>
          </a:p>
          <a:p>
            <a:endParaRPr lang="en-US" dirty="0">
              <a:solidFill>
                <a:srgbClr val="6B6B6B"/>
              </a:solidFill>
              <a:latin typeface="맑은 고딕"/>
            </a:endParaRPr>
          </a:p>
          <a:p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연구흐름 </a:t>
            </a:r>
            <a:r>
              <a:rPr lang="en-US" altLang="ko-KR" dirty="0">
                <a:solidFill>
                  <a:srgbClr val="6B6B6B"/>
                </a:solidFill>
                <a:latin typeface="맑은 고딕"/>
              </a:rPr>
              <a:t>: </a:t>
            </a:r>
          </a:p>
          <a:p>
            <a:r>
              <a:rPr lang="en-US" dirty="0">
                <a:solidFill>
                  <a:srgbClr val="6B6B6B"/>
                </a:solidFill>
                <a:latin typeface="맑은 고딕"/>
              </a:rPr>
              <a:t>Language Model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의 구조를 수정해서 외부 정보를 받아 </a:t>
            </a:r>
            <a:r>
              <a:rPr lang="ko-KR" altLang="en-US" dirty="0" err="1">
                <a:solidFill>
                  <a:srgbClr val="6B6B6B"/>
                </a:solidFill>
                <a:latin typeface="맑은 고딕"/>
              </a:rPr>
              <a:t>들일수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 있도록 함</a:t>
            </a:r>
            <a:endParaRPr lang="en-US" dirty="0">
              <a:solidFill>
                <a:srgbClr val="6B6B6B"/>
              </a:solidFill>
              <a:latin typeface="맑은 고딕"/>
            </a:endParaRPr>
          </a:p>
          <a:p>
            <a:r>
              <a:rPr lang="en-US" dirty="0">
                <a:solidFill>
                  <a:srgbClr val="6B6B6B"/>
                </a:solidFill>
                <a:latin typeface="맑은 고딕"/>
              </a:rPr>
              <a:t>-&gt;</a:t>
            </a:r>
          </a:p>
          <a:p>
            <a:r>
              <a:rPr lang="en-US" sz="1800" b="0" i="0" dirty="0">
                <a:solidFill>
                  <a:srgbClr val="6B6B6B"/>
                </a:solidFill>
                <a:latin typeface="맑은 고딕"/>
              </a:rPr>
              <a:t>Prepend grounding documents(</a:t>
            </a:r>
            <a:r>
              <a:rPr lang="en-US" dirty="0">
                <a:solidFill>
                  <a:srgbClr val="6B6B6B"/>
                </a:solidFill>
                <a:latin typeface="맑은 고딕"/>
              </a:rPr>
              <a:t>few-shot 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예시를 </a:t>
            </a:r>
            <a:r>
              <a:rPr lang="en-US" altLang="ko-KR" dirty="0" err="1">
                <a:solidFill>
                  <a:srgbClr val="6B6B6B"/>
                </a:solidFill>
                <a:latin typeface="맑은 고딕"/>
              </a:rPr>
              <a:t>concat</a:t>
            </a:r>
            <a:r>
              <a:rPr lang="en-US" altLang="ko-KR" dirty="0">
                <a:solidFill>
                  <a:srgbClr val="6B6B6B"/>
                </a:solidFill>
                <a:latin typeface="맑은 고딕"/>
              </a:rPr>
              <a:t> 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하는 구조</a:t>
            </a:r>
            <a:r>
              <a:rPr lang="en-US" sz="1800" b="0" i="0" dirty="0">
                <a:solidFill>
                  <a:srgbClr val="6B6B6B"/>
                </a:solidFill>
                <a:latin typeface="맑은 고딕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8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CB4B12C-C74B-9F1F-EC5A-DAC5A17C5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246" y="1678363"/>
            <a:ext cx="3621394" cy="4735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10881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dirty="0">
                <a:solidFill>
                  <a:srgbClr val="1A1A1A"/>
                </a:solidFill>
                <a:latin typeface="맑은 고딕"/>
              </a:rPr>
              <a:t>Concatenated </a:t>
            </a:r>
            <a:r>
              <a:rPr lang="en-US" sz="3000" b="1" dirty="0">
                <a:solidFill>
                  <a:srgbClr val="1A1A1A"/>
                </a:solidFill>
                <a:latin typeface="맑은 고딕"/>
              </a:rPr>
              <a:t>Input</a:t>
            </a:r>
            <a:endParaRPr sz="3000" b="1" i="0" dirty="0">
              <a:solidFill>
                <a:srgbClr val="1A1A1A"/>
              </a:solidFill>
              <a:latin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698480" cy="402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800" b="1" i="0" dirty="0">
                <a:solidFill>
                  <a:srgbClr val="2B59C3"/>
                </a:solidFill>
                <a:latin typeface="맑은 고딕"/>
              </a:rPr>
              <a:t>•  이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단순한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방식만으로도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GPT-2 345M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모델이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762M~1.5B급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모델과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맞먹는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성능을</a:t>
            </a:r>
            <a:r>
              <a:rPr sz="18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2B59C3"/>
                </a:solidFill>
                <a:latin typeface="맑은 고딕"/>
              </a:rPr>
              <a:t>낸다</a:t>
            </a:r>
            <a:endParaRPr sz="1800" b="1" i="0" dirty="0">
              <a:solidFill>
                <a:srgbClr val="2B59C3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9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A1CFAC-F80D-DF64-0208-55195224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83" y="2109484"/>
            <a:ext cx="10496859" cy="27358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FDC740-8A0A-2643-3F8E-262F02597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83" y="4845307"/>
            <a:ext cx="2915057" cy="18195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맑은 고딕"/>
              </a:rPr>
              <a:t>학습 없이도, API로만 접근 가능한 LLM에도 그대로 통한다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698480" cy="410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800" b="0" i="0" dirty="0">
                <a:solidFill>
                  <a:srgbClr val="1A1A1A"/>
                </a:solidFill>
                <a:latin typeface="맑은 고딕"/>
              </a:rPr>
              <a:t>•</a:t>
            </a:r>
            <a:r>
              <a:rPr lang="en-US" sz="18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lang="en-US" altLang="ko-KR" dirty="0"/>
              <a:t>that LMs can leverage retrieved documents without further training and without any training examples. </a:t>
            </a:r>
            <a:endParaRPr lang="en-US" sz="1800" b="0" i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847344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B59C3"/>
                </a:solidFill>
                <a:latin typeface="맑은 고딕"/>
              </a:rPr>
              <a:t>•  이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구조가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그대로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Claude API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기반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우리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시스템에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적용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가능한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근거가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된다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: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모델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파라미터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접근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없이도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검색만으로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유의미한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향상</a:t>
            </a:r>
            <a:endParaRPr sz="1700" b="1" i="0" dirty="0">
              <a:solidFill>
                <a:srgbClr val="2B59C3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11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6E64834-9F64-578E-39FF-934E5FBB6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25" y="2265543"/>
            <a:ext cx="4114159" cy="32296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694" y="214341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59C3"/>
                </a:solidFill>
                <a:latin typeface="맑은 고딕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6230" y="858355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A1A1A"/>
                </a:solidFill>
                <a:latin typeface="맑은 고딕"/>
              </a:rPr>
              <a:t>우리의 구현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360" y="2443316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B6B6B"/>
                </a:solidFill>
                <a:latin typeface="맑은 고딕"/>
              </a:rPr>
              <a:t>LLM</a:t>
            </a:r>
            <a:r>
              <a:rPr lang="ko-KR" altLang="en-US" dirty="0">
                <a:solidFill>
                  <a:srgbClr val="6B6B6B"/>
                </a:solidFill>
                <a:latin typeface="맑은 고딕"/>
              </a:rPr>
              <a:t>모델을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블랙박스로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두고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, </a:t>
            </a:r>
            <a:endParaRPr lang="en-US" sz="1800" b="0" i="0" dirty="0">
              <a:solidFill>
                <a:srgbClr val="6B6B6B"/>
              </a:solidFill>
              <a:latin typeface="맑은 고딕"/>
            </a:endParaRPr>
          </a:p>
          <a:p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retriever만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별도로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학습시켜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LM을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6B6B6B"/>
                </a:solidFill>
                <a:latin typeface="맑은 고딕"/>
              </a:rPr>
              <a:t>최적화한다</a:t>
            </a:r>
            <a:r>
              <a:rPr sz="1800" b="0" i="0" dirty="0">
                <a:solidFill>
                  <a:srgbClr val="6B6B6B"/>
                </a:solidFill>
                <a:latin typeface="맑은 고딕"/>
              </a:rPr>
              <a:t> — REPLUG (Shi et al., 2023)</a:t>
            </a:r>
            <a:endParaRPr lang="en-US" sz="1800" b="0" i="0" dirty="0">
              <a:solidFill>
                <a:srgbClr val="6B6B6B"/>
              </a:solidFill>
              <a:latin typeface="맑은 고딕"/>
            </a:endParaRPr>
          </a:p>
          <a:p>
            <a:endParaRPr lang="en-US" dirty="0">
              <a:solidFill>
                <a:srgbClr val="6B6B6B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12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F75891-87FA-A46E-9650-608717426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412" y="1376516"/>
            <a:ext cx="4303228" cy="50439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맑은 고딕"/>
              </a:rPr>
              <a:t>LM은 블랙박스, retriever는 탈부착 가능한 학습형 모듈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13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B1ECD1-C97A-6F0E-EDA9-20778BF2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141" y="1802781"/>
            <a:ext cx="5315924" cy="45980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3347" y="457200"/>
            <a:ext cx="11277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블랙박스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LM +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학습된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retriever만으로도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대형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모델이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개선된다</a:t>
            </a:r>
            <a:endParaRPr sz="3000" b="1" i="0" dirty="0">
              <a:solidFill>
                <a:srgbClr val="1A1A1A"/>
              </a:solidFill>
              <a:latin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5310894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 i="0" dirty="0">
                <a:solidFill>
                  <a:srgbClr val="6B6B6B"/>
                </a:solidFill>
                <a:latin typeface="맑은 고딕"/>
              </a:rPr>
              <a:t>• 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무작위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문서를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앙상블하면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오히려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성능이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나빠진다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— 즉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이득은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"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검색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자체"가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아니라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"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관련성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있는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검색"에서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맑은 고딕"/>
              </a:rPr>
              <a:t>나온다</a:t>
            </a:r>
            <a:r>
              <a:rPr sz="1600" b="0" i="0" dirty="0">
                <a:solidFill>
                  <a:srgbClr val="6B6B6B"/>
                </a:solidFill>
                <a:latin typeface="맑은 고딕"/>
              </a:rPr>
              <a:t> (Figure 4, random baseline)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B59C3"/>
                </a:solidFill>
                <a:latin typeface="맑은 고딕"/>
              </a:rPr>
              <a:t>• 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retriever를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LM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신호로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튜닝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(LSR)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하는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쪽이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튜닝하지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않은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REPLUG보다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항상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더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크게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개선된다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→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우리가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retriever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학습에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투자해야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하는</a:t>
            </a:r>
            <a:r>
              <a:rPr sz="1700" b="1" i="0" dirty="0">
                <a:solidFill>
                  <a:srgbClr val="2B59C3"/>
                </a:solidFill>
                <a:latin typeface="맑은 고딕"/>
              </a:rPr>
              <a:t> </a:t>
            </a:r>
            <a:r>
              <a:rPr sz="1700" b="1" i="0" dirty="0" err="1">
                <a:solidFill>
                  <a:srgbClr val="2B59C3"/>
                </a:solidFill>
                <a:latin typeface="맑은 고딕"/>
              </a:rPr>
              <a:t>근거</a:t>
            </a:r>
            <a:endParaRPr sz="1700" b="1" i="0" dirty="0">
              <a:solidFill>
                <a:srgbClr val="2B59C3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15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223FB6-714C-3009-F46B-5A79A461C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79" y="1565291"/>
            <a:ext cx="10571242" cy="3304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AFA36-6CA8-AE67-C37A-5E98BE4E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ADE76E-5E5E-A026-58C4-D628168C745C}"/>
              </a:ext>
            </a:extLst>
          </p:cNvPr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맑은 고딕"/>
              </a:rPr>
              <a:t>Ai-living-care RAG 아키텍처 제안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354F9CD-3A2A-8267-E987-C9CE4782439E}"/>
              </a:ext>
            </a:extLst>
          </p:cNvPr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FC8C6B-1154-0FE9-5205-00F312EC23EA}"/>
              </a:ext>
            </a:extLst>
          </p:cNvPr>
          <p:cNvSpPr txBox="1"/>
          <p:nvPr/>
        </p:nvSpPr>
        <p:spPr>
          <a:xfrm>
            <a:off x="731520" y="1265724"/>
            <a:ext cx="10698480" cy="2225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 i="0" dirty="0">
                <a:solidFill>
                  <a:srgbClr val="1A1A1A"/>
                </a:solidFill>
                <a:latin typeface="맑은 고딕"/>
              </a:rPr>
              <a:t>•  1.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예시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검색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(KATE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방식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): </a:t>
            </a:r>
            <a:r>
              <a:rPr lang="en-US" sz="1700" dirty="0">
                <a:solidFill>
                  <a:srgbClr val="1A1A1A"/>
                </a:solidFill>
                <a:latin typeface="맑은 고딕"/>
              </a:rPr>
              <a:t>high level </a:t>
            </a:r>
            <a:r>
              <a:rPr lang="en-US" sz="1700" dirty="0" err="1">
                <a:solidFill>
                  <a:srgbClr val="1A1A1A"/>
                </a:solidFill>
                <a:latin typeface="맑은 고딕"/>
              </a:rPr>
              <a:t>polic</a:t>
            </a:r>
            <a:r>
              <a:rPr lang="ko-KR" altLang="en-US" sz="1700" dirty="0">
                <a:solidFill>
                  <a:srgbClr val="1A1A1A"/>
                </a:solidFill>
                <a:latin typeface="맑은 고딕"/>
              </a:rPr>
              <a:t>를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임베딩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→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과거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성공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사례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중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유사도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최상위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k개를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few-shot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예시로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프롬프트에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삽입</a:t>
            </a:r>
            <a:endParaRPr sz="1700" b="0" i="0" dirty="0">
              <a:solidFill>
                <a:srgbClr val="1A1A1A"/>
              </a:solidFill>
              <a:latin typeface="맑은 고딕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 i="0" dirty="0">
                <a:solidFill>
                  <a:srgbClr val="1A1A1A"/>
                </a:solidFill>
                <a:latin typeface="맑은 고딕"/>
              </a:rPr>
              <a:t>•  2.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입력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구성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(In-Context RALM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방식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): </a:t>
            </a:r>
            <a:r>
              <a:rPr lang="en-US" sz="1700" b="0" i="0" dirty="0" err="1">
                <a:solidFill>
                  <a:srgbClr val="1A1A1A"/>
                </a:solidFill>
                <a:latin typeface="맑은 고딕"/>
              </a:rPr>
              <a:t>LLM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구조는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그대로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두고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,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검색된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예시·문서를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prepend만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—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별도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학습이나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fine-tuning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불필요</a:t>
            </a:r>
            <a:endParaRPr sz="1700" b="0" i="0" dirty="0">
              <a:solidFill>
                <a:srgbClr val="1A1A1A"/>
              </a:solidFill>
              <a:latin typeface="맑은 고딕"/>
            </a:endParaRP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 b="0" i="0" dirty="0">
                <a:solidFill>
                  <a:srgbClr val="1A1A1A"/>
                </a:solidFill>
                <a:latin typeface="맑은 고딕"/>
              </a:rPr>
              <a:t>•  3. Retriever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학습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(REPLUG LSR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방식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):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Claude를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frozen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scorer로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사용해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"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어떤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문서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/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예시가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실제로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Claude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응답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품질을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높이는지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" KL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divergence로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retriever를</a:t>
            </a:r>
            <a:r>
              <a:rPr sz="1700" b="0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1A1A1A"/>
                </a:solidFill>
                <a:latin typeface="맑은 고딕"/>
              </a:rPr>
              <a:t>훈련</a:t>
            </a:r>
            <a:endParaRPr sz="1700" b="0" i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6C8A2-60C4-7762-9B29-567120EDB68C}"/>
              </a:ext>
            </a:extLst>
          </p:cNvPr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16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9923CB-88E8-BC6D-3B63-F10652E3F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17" y="3594307"/>
            <a:ext cx="795448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5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10881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rgbClr val="1A1A1A"/>
                </a:solidFill>
                <a:latin typeface="맑은 고딕"/>
              </a:rPr>
              <a:t>Ai-living-care </a:t>
            </a:r>
            <a:endParaRPr lang="en-US" sz="3000" b="1" i="0" dirty="0">
              <a:solidFill>
                <a:srgbClr val="1A1A1A"/>
              </a:solidFill>
              <a:latin typeface="맑은 고딕"/>
            </a:endParaRPr>
          </a:p>
          <a:p>
            <a:r>
              <a:rPr sz="3000" b="1" i="0" dirty="0">
                <a:solidFill>
                  <a:srgbClr val="1A1A1A"/>
                </a:solidFill>
                <a:latin typeface="맑은 고딕"/>
              </a:rPr>
              <a:t>RAG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아키텍처</a:t>
            </a:r>
            <a:r>
              <a:rPr sz="3000" b="1" i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맑은 고딕"/>
              </a:rPr>
              <a:t>제안</a:t>
            </a:r>
            <a:endParaRPr sz="3000" b="1" i="0" dirty="0">
              <a:solidFill>
                <a:srgbClr val="1A1A1A"/>
              </a:solidFill>
              <a:latin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AFAFAF"/>
                </a:solidFill>
                <a:latin typeface="맑은 고딕"/>
              </a:rPr>
              <a:t>16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F6A406-D42C-0049-DD99-3410DFFF20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941" b="1333"/>
          <a:stretch>
            <a:fillRect/>
          </a:stretch>
        </p:blipFill>
        <p:spPr>
          <a:xfrm>
            <a:off x="4219456" y="0"/>
            <a:ext cx="7972544" cy="6766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555</Words>
  <Application>Microsoft Office PowerPoint</Application>
  <PresentationFormat>와이드스크린</PresentationFormat>
  <Paragraphs>69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</dc:creator>
  <cp:keywords/>
  <dc:description>generated using python-pptx</dc:description>
  <cp:lastModifiedBy>박준상</cp:lastModifiedBy>
  <cp:revision>3</cp:revision>
  <dcterms:created xsi:type="dcterms:W3CDTF">2013-01-27T09:14:16Z</dcterms:created>
  <dcterms:modified xsi:type="dcterms:W3CDTF">2026-08-11T05:13:40Z</dcterms:modified>
  <cp:category/>
</cp:coreProperties>
</file>